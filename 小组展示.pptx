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6256000" cy="9144000"/>
  <p:notesSz cx="9144000" cy="16256000"/>
  <p:embeddedFontLst>
    <p:embeddedFont>
      <p:font typeface="Quattrocento Sans" panose="020B0502050000020003" pitchFamily="34" charset="-122"/>
      <p:regular r:id="rId25"/>
    </p:embeddedFont>
    <p:embeddedFont>
      <p:font typeface="Quattrocento Sans" panose="020B0502050000020003" pitchFamily="34" charset="0"/>
      <p:regular r:id="rId26"/>
    </p:embeddedFont>
    <p:embeddedFont>
      <p:font typeface="Quattrocento Sans" panose="020B0502050000020003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等线" panose="02010600030101010101" charset="-122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pass@16 %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 3B</c:v>
                </c:pt>
                <c:pt idx="1">
                  <c:v>Tool SFT</c:v>
                </c:pt>
                <c:pt idx="2">
                  <c:v>SFT + GRPO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93.57</c:v>
                </c:pt>
                <c:pt idx="1">
                  <c:v>96.43</c:v>
                </c:pt>
                <c:pt idx="2">
                  <c:v>96.92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002bcf2-37b7-4ca3-89ac-0558bea411e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pass@16 %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 3B</c:v>
                </c:pt>
                <c:pt idx="1">
                  <c:v>Tool SFT</c:v>
                </c:pt>
                <c:pt idx="2">
                  <c:v>SFT + GRPO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60.72</c:v>
                </c:pt>
                <c:pt idx="1">
                  <c:v>69.92</c:v>
                </c:pt>
                <c:pt idx="2">
                  <c:v>73.17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50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036163f-c8a9-45c9-9e9a-f21b22af5fc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pass@16 %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 3B</c:v>
                </c:pt>
                <c:pt idx="1">
                  <c:v>Tool SFT</c:v>
                </c:pt>
                <c:pt idx="2">
                  <c:v>SFT + GRPO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4.19</c:v>
                </c:pt>
                <c:pt idx="1">
                  <c:v>19.52</c:v>
                </c:pt>
                <c:pt idx="2">
                  <c:v>20.28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856544f-d393-45ef-8742-0020528636c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pass@16 %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 3B</c:v>
                </c:pt>
                <c:pt idx="1">
                  <c:v>Tool SFT</c:v>
                </c:pt>
                <c:pt idx="2">
                  <c:v>SFT + GRPO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5.03</c:v>
                </c:pt>
                <c:pt idx="1">
                  <c:v>8.82</c:v>
                </c:pt>
                <c:pt idx="2">
                  <c:v>9.64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4082ee1-3880-40f9-a439-8b27a0d7098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3B</c:v>
                </c:pt>
              </c:strCache>
            </c:strRef>
          </c:tx>
          <c:spPr>
            <a:ln w="25400" cap="flat" cmpd="sng" algn="ctr">
              <a:solidFill>
                <a:srgbClr val="D0D7D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0D7DE"/>
              </a:solidFill>
              <a:ln w="9525" cap="flat" cmpd="sng" algn="ctr">
                <a:solidFill>
                  <a:srgbClr val="D0D7DE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k=4</c:v>
                </c:pt>
                <c:pt idx="2">
                  <c:v>k=8</c:v>
                </c:pt>
                <c:pt idx="3">
                  <c:v>k=16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42.15</c:v>
                </c:pt>
                <c:pt idx="1">
                  <c:v>50.28</c:v>
                </c:pt>
                <c:pt idx="2">
                  <c:v>56.1</c:v>
                </c:pt>
                <c:pt idx="3">
                  <c:v>60.72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 SFT Only</c:v>
                </c:pt>
              </c:strCache>
            </c:strRef>
          </c:tx>
          <c:spPr>
            <a:ln w="25400" cap="flat" cmpd="sng" algn="ctr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 cmpd="sng" algn="ctr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k=4</c:v>
                </c:pt>
                <c:pt idx="2">
                  <c:v>k=8</c:v>
                </c:pt>
                <c:pt idx="3">
                  <c:v>k=16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46.32</c:v>
                </c:pt>
                <c:pt idx="1">
                  <c:v>55.18</c:v>
                </c:pt>
                <c:pt idx="2">
                  <c:v>62.45</c:v>
                </c:pt>
                <c:pt idx="3">
                  <c:v>69.92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SFT + GRPO</c:v>
                </c:pt>
              </c:strCache>
            </c:strRef>
          </c:tx>
          <c:spPr>
            <a:ln w="25400" cap="flat" cmpd="sng" algn="ctr">
              <a:solidFill>
                <a:srgbClr val="81B2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1B29A"/>
              </a:solidFill>
              <a:ln w="9525" cap="flat" cmpd="sng" algn="ctr">
                <a:solidFill>
                  <a:srgbClr val="81B29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k=4</c:v>
                </c:pt>
                <c:pt idx="2">
                  <c:v>k=8</c:v>
                </c:pt>
                <c:pt idx="3">
                  <c:v>k=16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49.85</c:v>
                </c:pt>
                <c:pt idx="1">
                  <c:v>60.78</c:v>
                </c:pt>
                <c:pt idx="2">
                  <c:v>68.44</c:v>
                </c:pt>
                <c:pt idx="3">
                  <c:v>73.17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35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pass@k %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00" b="0" i="0" u="none" strike="noStrike" kern="1200" baseline="0">
              <a:solidFill>
                <a:srgbClr val="1A233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7dbf450-8652-472c-b70a-0c93328c033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Tool SFT Only</c:v>
                </c:pt>
              </c:strCache>
            </c:strRef>
          </c:tx>
          <c:spPr>
            <a:ln w="25400" cap="flat" cmpd="sng" algn="ctr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 cmpd="sng" algn="ctr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k=4</c:v>
                </c:pt>
                <c:pt idx="2">
                  <c:v>k=8</c:v>
                </c:pt>
                <c:pt idx="3">
                  <c:v>k=16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4.17</c:v>
                </c:pt>
                <c:pt idx="1">
                  <c:v>5.92</c:v>
                </c:pt>
                <c:pt idx="2">
                  <c:v>7.35</c:v>
                </c:pt>
                <c:pt idx="3">
                  <c:v>8.82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 SFT + GRPO</c:v>
                </c:pt>
              </c:strCache>
            </c:strRef>
          </c:tx>
          <c:spPr>
            <a:ln w="25400" cap="flat" cmpd="sng" algn="ctr">
              <a:solidFill>
                <a:srgbClr val="E07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5F"/>
              </a:solidFill>
              <a:ln w="9525" cap="flat" cmpd="sng" algn="ctr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k=2</c:v>
                </c:pt>
                <c:pt idx="1">
                  <c:v>k=4</c:v>
                </c:pt>
                <c:pt idx="2">
                  <c:v>k=8</c:v>
                </c:pt>
                <c:pt idx="3">
                  <c:v>k=16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2.83</c:v>
                </c:pt>
                <c:pt idx="1">
                  <c:v>5.15</c:v>
                </c:pt>
                <c:pt idx="2">
                  <c:v>7.68</c:v>
                </c:pt>
                <c:pt idx="3">
                  <c:v>9.64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233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pass@k % (AIME 2025)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00" b="0" i="0" u="none" strike="noStrike" kern="1200" baseline="0">
              <a:solidFill>
                <a:srgbClr val="1A233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e90cf3f-b259-488a-9346-32426b88fe3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032000"/>
            <a:ext cx="2540000" cy="0"/>
          </a:xfrm>
          <a:prstGeom prst="straightConnector1">
            <a:avLst/>
          </a:prstGeom>
          <a:noFill/>
          <a:ln w="381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270000" y="2286000"/>
            <a:ext cx="13716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TOOL-AUGMENTED REASONING WITH GROUP RELATIVE POLICY OPTIMIZATION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Teaching LLMs to Strategically Use Code Tools Through Reinforcement Learning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23000" y="4826000"/>
            <a:ext cx="3810000" cy="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2540000" y="5080000"/>
            <a:ext cx="1117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AI · May 10,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5715000"/>
            <a:ext cx="1244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Yueyang Cheng · Wenzhe Dong · Jian Lv · Xin Chen · Haoyu Lu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Image 0" descr="https://kimi-img.moonshot.cn/pub/slides/okc/zqegunttuiiio/mnt/agents/output/retool_grpo/images/method_diagram.png"/>
          <p:cNvPicPr>
            <a:picLocks noChangeAspect="1"/>
          </p:cNvPicPr>
          <p:nvPr/>
        </p:nvPicPr>
        <p:blipFill>
          <a:blip r:embed="rId1">
            <a:alphaModFix amt="25000"/>
          </a:blip>
          <a:srcRect t="-17754" b="-17754"/>
          <a:stretch>
            <a:fillRect/>
          </a:stretch>
        </p:blipFill>
        <p:spPr>
          <a:xfrm>
            <a:off x="12192000" y="6604000"/>
            <a:ext cx="3556000" cy="215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00B4D8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06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Motivation: Why Tools?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397000"/>
            <a:ext cx="7112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" y="1397000"/>
            <a:ext cx="63500" cy="50800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2" name="Text 10"/>
          <p:cNvSpPr/>
          <p:nvPr/>
        </p:nvSpPr>
        <p:spPr>
          <a:xfrm>
            <a:off x="1079500" y="1587500"/>
            <a:ext cx="647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E07A5F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The Problem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9500" y="2159000"/>
            <a:ext cx="6477000" cy="406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LLMs are bad at precise numerical computation (sqrt, sin, iterative solving)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Multi-step reasoning accumulates errors —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"drift"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No way to self-verify intermediate results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82000" y="1397000"/>
            <a:ext cx="7112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1397000"/>
            <a:ext cx="63500" cy="5080000"/>
          </a:xfrm>
          <a:prstGeom prst="rect">
            <a:avLst/>
          </a:prstGeom>
          <a:solidFill>
            <a:srgbClr val="81B29A"/>
          </a:solidFill>
        </p:spPr>
      </p:sp>
      <p:sp>
        <p:nvSpPr>
          <p:cNvPr id="16" name="Text 14"/>
          <p:cNvSpPr/>
          <p:nvPr/>
        </p:nvSpPr>
        <p:spPr>
          <a:xfrm>
            <a:off x="8699500" y="1587500"/>
            <a:ext cx="647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81B29A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The Solution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99500" y="2159000"/>
            <a:ext cx="6477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Give the model a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Python interpreter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Let it write code → execute → see results → iterate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Like using scratch paper during an exam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" y="6858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Visual idea: What model thinks (wrong calculation) vs. What code returns (correct result)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06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The Core Idea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Image 0" descr="https://kimi-img.moonshot.cn/pub/slides/okc/zqegunttuiiio/mnt/agents/output/retool_grpo/images/method_diagram.png"/>
          <p:cNvPicPr>
            <a:picLocks noChangeAspect="1"/>
          </p:cNvPicPr>
          <p:nvPr/>
        </p:nvPicPr>
        <p:blipFill>
          <a:blip r:embed="rId1"/>
          <a:srcRect t="-2609" b="-2609"/>
          <a:stretch>
            <a:fillRect/>
          </a:stretch>
        </p:blipFill>
        <p:spPr>
          <a:xfrm>
            <a:off x="762000" y="1333500"/>
            <a:ext cx="8890000" cy="419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33000" y="1333500"/>
            <a:ext cx="5588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1.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User asks a math problem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287000" y="1993900"/>
            <a:ext cx="0" cy="1016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3" name="Text 10"/>
          <p:cNvSpPr/>
          <p:nvPr/>
        </p:nvSpPr>
        <p:spPr>
          <a:xfrm>
            <a:off x="10033000" y="2095500"/>
            <a:ext cx="5588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2.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Model decides to use code tool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287000" y="2755900"/>
            <a:ext cx="0" cy="1016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5" name="Text 12"/>
          <p:cNvSpPr/>
          <p:nvPr/>
        </p:nvSpPr>
        <p:spPr>
          <a:xfrm>
            <a:off x="10033000" y="2857500"/>
            <a:ext cx="5588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3.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Code executes in sandbox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287000" y="3517900"/>
            <a:ext cx="0" cy="10160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7" name="Text 14"/>
          <p:cNvSpPr/>
          <p:nvPr/>
        </p:nvSpPr>
        <p:spPr>
          <a:xfrm>
            <a:off x="10033000" y="3619500"/>
            <a:ext cx="5588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4.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Model reads results &amp; concludes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62000" y="5905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19" name="Shape 16"/>
          <p:cNvSpPr/>
          <p:nvPr/>
        </p:nvSpPr>
        <p:spPr>
          <a:xfrm>
            <a:off x="1123950" y="62611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20" name="Text 17"/>
          <p:cNvSpPr/>
          <p:nvPr/>
        </p:nvSpPr>
        <p:spPr>
          <a:xfrm>
            <a:off x="1651000" y="6070600"/>
            <a:ext cx="135255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Key insight: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The model learns </a:t>
            </a:r>
            <a:r>
              <a:rPr lang="en-US" sz="18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STRATEGY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(when to call tools, how many times, how to interpret results), not just code-writing.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2000" y="7493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Example:</a:t>
            </a:r>
            <a:r>
              <a:rPr lang="en-US" sz="1600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User: "Find all real roots of x³ - 7x + 6 = 0" → Model writes Python code → Tool returns: 1, 2, -3 → Answer: \boxed{-3, 1, 2}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Why Not Just SFT?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62000" y="1397000"/>
          <a:ext cx="14732000" cy="4699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72000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Aspect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Tool-Specific SFT Only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 SFT + GRPO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7957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Code formatting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Learns from demos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Inherits from SFT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7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When to call tool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✗ Imitates dataset bias</a:t>
                      </a:r>
                      <a:endParaRPr lang="en-US" sz="1600" u="none" dirty="0">
                        <a:solidFill>
                          <a:srgbClr val="E07A5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Learns optimal timing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957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How many turns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✗ Fixed pattern</a:t>
                      </a:r>
                      <a:endParaRPr lang="en-US" sz="1600" u="none" dirty="0">
                        <a:solidFill>
                          <a:srgbClr val="E07A5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Adaptive per problem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7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Debug failed code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✗ Not in training data</a:t>
                      </a:r>
                      <a:endParaRPr lang="en-US" sz="1600" u="none" dirty="0">
                        <a:solidFill>
                          <a:srgbClr val="E07A5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Learns from feedback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9579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Try alternative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✗ Single path</a:t>
                      </a:r>
                      <a:endParaRPr lang="en-US" sz="1600" u="none" dirty="0">
                        <a:solidFill>
                          <a:srgbClr val="E07A5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✓ Explores strategies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6477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12" name="Shape 9"/>
          <p:cNvSpPr/>
          <p:nvPr/>
        </p:nvSpPr>
        <p:spPr>
          <a:xfrm>
            <a:off x="1060450" y="679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00B4D8"/>
          </a:solidFill>
        </p:spPr>
      </p:sp>
      <p:sp>
        <p:nvSpPr>
          <p:cNvPr id="13" name="Text 10"/>
          <p:cNvSpPr/>
          <p:nvPr/>
        </p:nvSpPr>
        <p:spPr>
          <a:xfrm>
            <a:off x="1587500" y="6604000"/>
            <a:ext cx="1358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Bottom line: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Tool-specific SFT gives the model a </a:t>
            </a:r>
            <a:r>
              <a:rPr lang="en-US" sz="1800" i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recipe book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. GRPO teaches it to be a </a:t>
            </a:r>
            <a:r>
              <a:rPr lang="en-US" sz="1800" i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chef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Training Pipeline Overview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397000"/>
            <a:ext cx="45720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2500" y="1587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D0D7DE"/>
          </a:solidFill>
        </p:spPr>
      </p:sp>
      <p:sp>
        <p:nvSpPr>
          <p:cNvPr id="12" name="Text 10"/>
          <p:cNvSpPr/>
          <p:nvPr/>
        </p:nvSpPr>
        <p:spPr>
          <a:xfrm>
            <a:off x="952500" y="1587500"/>
            <a:ext cx="152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 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20955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514600"/>
            <a:ext cx="4191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Qwen2.5-3B-Instruct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General-purpose instruct model, never seen tool-calling format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34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842000" y="1397000"/>
            <a:ext cx="45720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2500" y="1587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6032500" y="1587500"/>
            <a:ext cx="228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 1: Tool SFT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20955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2514600"/>
            <a:ext cx="4191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Train on multi-turn code-execution trajectories (6 epochs)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Output:</a:t>
            </a:r>
            <a:r>
              <a:rPr lang="en-US" sz="15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Model knows HOW to format tool calls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414000" y="2540000"/>
            <a:ext cx="508000" cy="0"/>
          </a:xfrm>
          <a:prstGeom prst="straightConnector1">
            <a:avLst/>
          </a:prstGeom>
          <a:noFill/>
          <a:ln w="2540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922000" y="1397000"/>
            <a:ext cx="45720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112500" y="1587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1A2332"/>
          </a:solidFill>
        </p:spPr>
      </p:sp>
      <p:sp>
        <p:nvSpPr>
          <p:cNvPr id="24" name="Text 22"/>
          <p:cNvSpPr/>
          <p:nvPr/>
        </p:nvSpPr>
        <p:spPr>
          <a:xfrm>
            <a:off x="11112500" y="1587500"/>
            <a:ext cx="228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Stage 2: GRPO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12500" y="20955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12500" y="2514600"/>
            <a:ext cx="4191000" cy="149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Sample 8 responses, execute code, group-normalize advantages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Output:</a:t>
            </a:r>
            <a:r>
              <a:rPr lang="en-US" sz="1500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Model knows WHEN &amp; WHY to use tools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2000" y="4381500"/>
            <a:ext cx="14732000" cy="2540000"/>
          </a:xfrm>
          <a:prstGeom prst="roundRect">
            <a:avLst>
              <a:gd name="adj" fmla="val 3000"/>
            </a:avLst>
          </a:prstGeom>
          <a:solidFill>
            <a:srgbClr val="162029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9500" y="4546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GRPO Details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9500" y="4978400"/>
            <a:ext cx="14097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Sample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8 responses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per problem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Execute code in sandbox, get results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Reward: correct answer =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+1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, wrong =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softened penalty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Group-normalize advantages, update policy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2000" y="7239000"/>
            <a:ext cx="14732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Tool-specific SFT provides the behavioral bootstrap; GRPO optimizes the strategy.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Why GRPO Instead of PPO?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397000"/>
            <a:ext cx="7112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" y="1397000"/>
            <a:ext cx="7112000" cy="635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2" name="Text 10"/>
          <p:cNvSpPr/>
          <p:nvPr/>
        </p:nvSpPr>
        <p:spPr>
          <a:xfrm>
            <a:off x="1079500" y="1651000"/>
            <a:ext cx="647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E07A5F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PPO (Proximal Policy Optimization)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9500" y="2222500"/>
            <a:ext cx="6477000" cy="311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Needs a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Critic network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(Value function) — 50% more parameters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Advantage computed via GAE: needs λ, γ tuning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Value estimation for math: </a:t>
            </a:r>
            <a:r>
              <a:rPr lang="en-US" sz="1800" i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"How likely am I to solve this?"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— very hard to estimate!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82000" y="1397000"/>
            <a:ext cx="7112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1397000"/>
            <a:ext cx="7112000" cy="63500"/>
          </a:xfrm>
          <a:prstGeom prst="rect">
            <a:avLst/>
          </a:prstGeom>
          <a:solidFill>
            <a:srgbClr val="81B29A"/>
          </a:solidFill>
        </p:spPr>
      </p:sp>
      <p:sp>
        <p:nvSpPr>
          <p:cNvPr id="16" name="Text 14"/>
          <p:cNvSpPr/>
          <p:nvPr/>
        </p:nvSpPr>
        <p:spPr>
          <a:xfrm>
            <a:off x="8699500" y="1651000"/>
            <a:ext cx="647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81B29A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GRPO (Group Relative Policy Optimization)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99500" y="2222500"/>
            <a:ext cx="6477000" cy="311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No critic network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— saves memory, simplifies training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For each problem, sample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8 answers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Advantage = (your score − group average) / group std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Natural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"internal competition"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— best answer wins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7556500" y="5956300"/>
                <a:ext cx="8287385" cy="177673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dirty="0"/>
                          </m:ctrlPr>
                        </m:sSubPr>
                        <m:e>
                          <m:r>
                            <a:rPr lang="en-US" sz="3600" i="1" dirty="0">
                              <a:latin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i="1" dirty="0">
                              <a:latin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sz="3600" dirty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sz="3600"/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dirty="0"/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600" i="1" dirty="0">
                                  <a:latin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−</m:t>
                          </m:r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𝑚𝑒𝑎𝑛</m:t>
                          </m:r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(</m:t>
                          </m:r>
                          <m:r>
                            <a:rPr lang="en-US" sz="3600" i="1" dirty="0"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𝑠𝑡𝑑</m:t>
                          </m:r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(</m:t>
                          </m:r>
                          <m:r>
                            <a:rPr lang="en-US" sz="3600" i="1" dirty="0"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 lang="en-US" sz="3600" dirty="0">
                              <a:latin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500" y="5956300"/>
                <a:ext cx="8287385" cy="17767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Asymmetric Clipping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143000"/>
            <a:ext cx="1143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Be Aggressive with Success, Cautious with Failure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714500"/>
            <a:ext cx="7112000" cy="279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" y="1714500"/>
            <a:ext cx="63500" cy="27940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3" name="Text 11"/>
          <p:cNvSpPr/>
          <p:nvPr/>
        </p:nvSpPr>
        <p:spPr>
          <a:xfrm>
            <a:off x="1079500" y="1879600"/>
            <a:ext cx="6477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A5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The Problem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9500" y="2349500"/>
            <a:ext cx="6477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Math: most attempts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fail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(wrong answer), few succeed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Standard PPO: symmetric clip at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±0.2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Treats success and failure </a:t>
            </a: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equally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82000" y="1714500"/>
            <a:ext cx="7112000" cy="279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1714500"/>
            <a:ext cx="63500" cy="2794000"/>
          </a:xfrm>
          <a:prstGeom prst="rect">
            <a:avLst/>
          </a:prstGeom>
          <a:solidFill>
            <a:srgbClr val="81B29A"/>
          </a:solidFill>
        </p:spPr>
      </p:sp>
      <p:sp>
        <p:nvSpPr>
          <p:cNvPr id="17" name="Text 15"/>
          <p:cNvSpPr/>
          <p:nvPr/>
        </p:nvSpPr>
        <p:spPr>
          <a:xfrm>
            <a:off x="8699500" y="1879600"/>
            <a:ext cx="6477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1B29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Our Solution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99500" y="2349500"/>
            <a:ext cx="6477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clip_ratio_low = 0.2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(conservative on failure)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clip_ratio_high = 0.38</a:t>
            </a: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(aggressive on success)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Asymmetric bounds maximize rare success signals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4889500"/>
            <a:ext cx="14732000" cy="2032000"/>
          </a:xfrm>
          <a:prstGeom prst="roundRect">
            <a:avLst>
              <a:gd name="adj" fmla="val 3000"/>
            </a:avLst>
          </a:prstGeom>
          <a:solidFill>
            <a:srgbClr val="162029"/>
          </a:solidFill>
        </p:spPr>
      </p:sp>
      <p:sp>
        <p:nvSpPr>
          <p:cNvPr id="20" name="Shape 18"/>
          <p:cNvSpPr/>
          <p:nvPr/>
        </p:nvSpPr>
        <p:spPr>
          <a:xfrm>
            <a:off x="7937500" y="5334000"/>
            <a:ext cx="127000" cy="127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2540000" y="5397500"/>
            <a:ext cx="10922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540000" y="5207000"/>
            <a:ext cx="2730500" cy="381000"/>
          </a:xfrm>
          <a:prstGeom prst="rect">
            <a:avLst/>
          </a:prstGeom>
          <a:solidFill>
            <a:srgbClr val="E07A5F">
              <a:alpha val="25098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286000" y="56515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-0.2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47000" y="56515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31500" y="5207000"/>
            <a:ext cx="2730500" cy="381000"/>
          </a:xfrm>
          <a:prstGeom prst="rect">
            <a:avLst/>
          </a:prstGeom>
          <a:solidFill>
            <a:srgbClr val="81B29A">
              <a:alpha val="2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2065000" y="56515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1B29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+0.38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40000" y="6096000"/>
            <a:ext cx="2730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07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Failure zone (conservative)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31500" y="6096000"/>
            <a:ext cx="2730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1B29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 zone (aggressive)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Intuition: When the model finally solves a hard problem correctly, we want to MAXIMIZE learning from that rare event.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Tool Reward Shaping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270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Problem with binary rewards: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"Tried 10 approaches, almost got it" = −1, "Didn't even try, random guess" = −1. Binary reward can't tell them apart → model has no incentive to use tools!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2476500"/>
            <a:ext cx="14732000" cy="1841500"/>
          </a:xfrm>
          <a:prstGeom prst="roundRect">
            <a:avLst>
              <a:gd name="adj" fmla="val 3000"/>
            </a:avLst>
          </a:prstGeom>
          <a:solidFill>
            <a:srgbClr val="1A2332"/>
          </a:solidFill>
        </p:spPr>
      </p:sp>
      <p:sp>
        <p:nvSpPr>
          <p:cNvPr id="12" name="Text 10"/>
          <p:cNvSpPr/>
          <p:nvPr/>
        </p:nvSpPr>
        <p:spPr>
          <a:xfrm>
            <a:off x="1079500" y="2603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Reward Formula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3022600"/>
            <a:ext cx="14097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If correct: score = </a:t>
            </a:r>
            <a:r>
              <a:rPr lang="en-US" sz="1800" b="1" dirty="0">
                <a:solidFill>
                  <a:srgbClr val="81B29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If wrong: penalty = </a:t>
            </a: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−1 + 0.05 × (num_turns − 2)</a:t>
            </a: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capped at </a:t>
            </a: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−0.6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4635500"/>
          <a:ext cx="7620000" cy="2032000"/>
        </p:xfrm>
        <a:graphic>
          <a:graphicData uri="http://schemas.openxmlformats.org/drawingml/2006/table">
            <a:tbl>
              <a:tblPr/>
              <a:tblGrid>
                <a:gridCol w="3048000"/>
                <a:gridCol w="2286000"/>
                <a:gridCol w="2286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Turns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Penalty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Interpretation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 turns (minimum)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−1.0</a:t>
                      </a:r>
                      <a:endParaRPr lang="en-US" sz="1600" u="none" dirty="0">
                        <a:solidFill>
                          <a:srgbClr val="E07A5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Full penalty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6 turns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−0.8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Softened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10+ turns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−0.6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Max softening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890000" y="4635500"/>
            <a:ext cx="6604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251950" y="4889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17" name="Text 14"/>
          <p:cNvSpPr/>
          <p:nvPr/>
        </p:nvSpPr>
        <p:spPr>
          <a:xfrm>
            <a:off x="9715500" y="4851400"/>
            <a:ext cx="546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Key Message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207500" y="5397500"/>
            <a:ext cx="5969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2332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Failing after serious effort &gt; failing without trying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Just 5 lines of code change produces qualitatively different behavior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Code Execution Sandbox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270000"/>
            <a:ext cx="14732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Why build our own?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Model-generated code can be anything — including malicious. Need OS-level isolation, not just try/except.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23495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2A3B4C"/>
          </a:solidFill>
          <a:ln w="12700">
            <a:solidFill>
              <a:srgbClr val="3A4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" y="24765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24765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Resource limits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256MB RAM, 5s CPU, max 8 processes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2766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253545"/>
          </a:solidFill>
          <a:ln w="12700">
            <a:solidFill>
              <a:srgbClr val="3A4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" y="34036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05000" y="34036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privilege escalation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prctl NO_NEW_PRIVS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2037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202F3E"/>
          </a:solidFill>
          <a:ln w="12700">
            <a:solidFill>
              <a:srgbClr val="3A4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500" y="43307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05000" y="43307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Syscall filtering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block execve, socket, mount, etc.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1308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1B2A37"/>
          </a:solidFill>
          <a:ln w="12700">
            <a:solidFill>
              <a:srgbClr val="3A4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52578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05000" y="52578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Memory monitor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kill on OOM, checks every 50ms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579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162530"/>
          </a:solidFill>
          <a:ln w="12700">
            <a:solidFill>
              <a:srgbClr val="3A4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500" y="61849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05000" y="61849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Ephemeral workspace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auto-cleanup per execution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9850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1A23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500" y="71120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05000" y="7112000"/>
            <a:ext cx="13335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Concurrency cap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max 16 simultaneous executions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128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Even </a:t>
            </a:r>
            <a:r>
              <a:rPr lang="en-US" sz="1400" i="1" dirty="0">
                <a:solidFill>
                  <a:srgbClr val="5C6B7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os.system("rm -rf /") is fully contained.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Experimental Design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2700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Three Training Configurations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62000" y="1752600"/>
          <a:ext cx="14732000" cy="2222500"/>
        </p:xfrm>
        <a:graphic>
          <a:graphicData uri="http://schemas.openxmlformats.org/drawingml/2006/table">
            <a:tbl>
              <a:tblPr/>
              <a:tblGrid>
                <a:gridCol w="1178560"/>
                <a:gridCol w="4124960"/>
                <a:gridCol w="9428480"/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#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Name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Description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1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Qwen 3B Instruct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GRPO directly on Qwen2.5-3B-Instruct (skip tool SFT)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Tool-Specific SFT Only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Add tool-use SFT on top of instruct model (RL warm-start)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 SFT + GRPO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Full pipeline: Instruct → Tool SFT → GRPO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42545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Four Benchmarks (Increasing Difficulty)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2000" y="4762500"/>
            <a:ext cx="342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2500" y="49276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GSM8K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500" y="5308600"/>
            <a:ext cx="3048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Elementary math word problems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1,319</a:t>
            </a: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problems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5000" y="4762500"/>
            <a:ext cx="342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35500" y="49276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MATH-500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35500" y="5308600"/>
            <a:ext cx="3048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school competition math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500</a:t>
            </a: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problems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28000" y="4762500"/>
            <a:ext cx="3429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18500" y="49276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AIME 2024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18500" y="5308600"/>
            <a:ext cx="3048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competition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</a:t>
            </a: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problems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1811000" y="4762500"/>
            <a:ext cx="3683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2001500" y="4927600"/>
            <a:ext cx="3302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AIME 2025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001500" y="5308600"/>
            <a:ext cx="3302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competition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</a:t>
            </a:r>
            <a:r>
              <a:rPr lang="en-US" sz="14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problems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67310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26" name="Text 23"/>
          <p:cNvSpPr/>
          <p:nvPr/>
        </p:nvSpPr>
        <p:spPr>
          <a:xfrm>
            <a:off x="1079500" y="6819900"/>
            <a:ext cx="14097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Metric:</a:t>
            </a: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800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pass@k</a:t>
            </a: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generate k answers, at least 1 correct = pass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5113000" y="87884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Results: GSM8K &amp; MATH-500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762000" y="13335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8382000" y="13335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2000" y="5778500"/>
            <a:ext cx="14732000" cy="12065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13" name="Shape 9"/>
          <p:cNvSpPr/>
          <p:nvPr/>
        </p:nvSpPr>
        <p:spPr>
          <a:xfrm>
            <a:off x="1079500" y="609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00B4D8"/>
          </a:solidFill>
        </p:spPr>
      </p:sp>
      <p:sp>
        <p:nvSpPr>
          <p:cNvPr id="14" name="Text 10"/>
          <p:cNvSpPr/>
          <p:nvPr/>
        </p:nvSpPr>
        <p:spPr>
          <a:xfrm>
            <a:off x="1587500" y="59055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Callout:</a:t>
            </a: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Tool-specific SFT does the heavy lifting. GRPO adds refinement, especially on harder problems (MATH-500: </a:t>
            </a:r>
            <a:r>
              <a:rPr lang="en-US" sz="1700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+3.25%</a:t>
            </a: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over tool SFT alone).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62000" y="7302500"/>
          <a:ext cx="14732000" cy="1016000"/>
        </p:xfrm>
        <a:graphic>
          <a:graphicData uri="http://schemas.openxmlformats.org/drawingml/2006/table">
            <a:tbl>
              <a:tblPr/>
              <a:tblGrid>
                <a:gridCol w="4124960"/>
                <a:gridCol w="3535680"/>
                <a:gridCol w="3535680"/>
                <a:gridCol w="3535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Configuration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Qwen 3B Instruct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Tool-Specific SFT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 SFT + GRPO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MATH-500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60.72%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69.92%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73.17%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Results: AIME (Hard Problems)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762000" y="13335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8382000" y="13335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2000" y="57785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13" name="Shape 9"/>
          <p:cNvSpPr/>
          <p:nvPr/>
        </p:nvSpPr>
        <p:spPr>
          <a:xfrm>
            <a:off x="1098550" y="596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14" name="Text 10"/>
          <p:cNvSpPr/>
          <p:nvPr/>
        </p:nvSpPr>
        <p:spPr>
          <a:xfrm>
            <a:off x="1587500" y="5905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Observation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79500" y="6350000"/>
            <a:ext cx="14097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Without tool-specific SFT, GRPO is nearly useless on hard problems (</a:t>
            </a:r>
            <a:r>
              <a:rPr lang="en-US" sz="1700" dirty="0">
                <a:solidFill>
                  <a:srgbClr val="E07A5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4.19%</a:t>
            </a: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is almost random). Tool-specific SFT provides a </a:t>
            </a:r>
            <a:r>
              <a:rPr lang="en-US" sz="1700" b="1" dirty="0">
                <a:solidFill>
                  <a:srgbClr val="81B29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5× boost</a:t>
            </a: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on AIME 2024.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62000" y="7620000"/>
          <a:ext cx="14732000" cy="825500"/>
        </p:xfrm>
        <a:graphic>
          <a:graphicData uri="http://schemas.openxmlformats.org/drawingml/2006/table">
            <a:tbl>
              <a:tblPr/>
              <a:tblGrid>
                <a:gridCol w="4124960"/>
                <a:gridCol w="3535680"/>
                <a:gridCol w="3535680"/>
                <a:gridCol w="3535680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Benchmark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Qwen 3B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 SFT Only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Tool SFT + GRPO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AIME 2024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4.19%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19.52%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B29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20.28%</a:t>
                      </a:r>
                      <a:endParaRPr lang="en-US" sz="1600" u="none" dirty="0">
                        <a:solidFill>
                          <a:srgbClr val="81B29A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pass@k Scaling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1684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MATH-500 — More Samples = Much Better Results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62000" y="1587500"/>
          <a:ext cx="952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10795000" y="1714500"/>
            <a:ext cx="469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Interpretation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95000" y="2222500"/>
            <a:ext cx="4699000" cy="419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pass@16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is nearly </a:t>
            </a:r>
            <a:r>
              <a:rPr lang="en-US" sz="1600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1.5×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pass@2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Model has learned </a:t>
            </a:r>
            <a:r>
              <a:rPr lang="en-US" sz="16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DIVERSE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strategies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Different samples try different approaches — some work, some don't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This is a sign of </a:t>
            </a:r>
            <a:r>
              <a:rPr lang="en-US" sz="1600" b="1" dirty="0">
                <a:solidFill>
                  <a:srgbClr val="81B29A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healthy RL training</a:t>
            </a:r>
            <a:r>
              <a:rPr lang="en-US" sz="1600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 (not mode collapse)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6731000"/>
            <a:ext cx="9525000" cy="762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15" name="Text 12"/>
          <p:cNvSpPr/>
          <p:nvPr/>
        </p:nvSpPr>
        <p:spPr>
          <a:xfrm>
            <a:off x="1079500" y="6819900"/>
            <a:ext cx="8890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SFT+GRPO: </a:t>
            </a:r>
            <a:r>
              <a:rPr lang="en-US" sz="1700" b="1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49.85%</a:t>
            </a: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→ </a:t>
            </a:r>
            <a:r>
              <a:rPr lang="en-US" sz="17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60.78%</a:t>
            </a: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→ </a:t>
            </a:r>
            <a:r>
              <a:rPr lang="en-US" sz="17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68.44%</a:t>
            </a:r>
            <a:r>
              <a:rPr lang="en-US" sz="17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→ </a:t>
            </a:r>
            <a:r>
              <a:rPr lang="en-US" sz="1700" b="1" dirty="0">
                <a:solidFill>
                  <a:srgbClr val="81B29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73.17%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The AIME 2025 Anomaly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1684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When RL Hurts: Tool SFT vs Tool SFT + GRPO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62000" y="1587500"/>
          <a:ext cx="889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10160000" y="1714500"/>
            <a:ext cx="533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00B4D8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Our Analysis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160000" y="22225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160000" y="2222500"/>
            <a:ext cx="63500" cy="1524000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5" name="Text 12"/>
          <p:cNvSpPr/>
          <p:nvPr/>
        </p:nvSpPr>
        <p:spPr>
          <a:xfrm>
            <a:off x="10414000" y="2324100"/>
            <a:ext cx="482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Distribution Shift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14000" y="2692400"/>
            <a:ext cx="4826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Training data (DAPO-Math-17k) is more similar to AIME 2024 than 2025. RL overfits to training distribution.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0" y="39370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60000" y="3937000"/>
            <a:ext cx="63500" cy="15240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9" name="Text 16"/>
          <p:cNvSpPr/>
          <p:nvPr/>
        </p:nvSpPr>
        <p:spPr>
          <a:xfrm>
            <a:off x="10414000" y="4038600"/>
            <a:ext cx="482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4A26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Catastrophic Forgetting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414000" y="4406900"/>
            <a:ext cx="4826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KL constraint → policy drifts from SFT. On problems where SFT strategy was decent, RL overwrites it.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223000"/>
            <a:ext cx="8890000" cy="952500"/>
          </a:xfrm>
          <a:prstGeom prst="roundRect">
            <a:avLst>
              <a:gd name="adj" fmla="val 5000"/>
            </a:avLst>
          </a:prstGeom>
          <a:solidFill>
            <a:srgbClr val="1A2332"/>
          </a:solidFill>
        </p:spPr>
      </p:sp>
      <p:sp>
        <p:nvSpPr>
          <p:cNvPr id="22" name="Text 19"/>
          <p:cNvSpPr/>
          <p:nvPr/>
        </p:nvSpPr>
        <p:spPr>
          <a:xfrm>
            <a:off x="1079500" y="6223000"/>
            <a:ext cx="8255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pass@2: Tool SFT </a:t>
            </a:r>
            <a:r>
              <a:rPr lang="en-US" sz="1600" b="1" dirty="0">
                <a:solidFill>
                  <a:srgbClr val="00B4D8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4.17%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&gt; GRPO </a:t>
            </a:r>
            <a:r>
              <a:rPr lang="en-US" sz="1600" b="1" dirty="0">
                <a:solidFill>
                  <a:srgbClr val="E07A5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2.83%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(RL is WORSE!)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pass@16: Tool SFT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8.82%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&lt; GRPO </a:t>
            </a:r>
            <a:r>
              <a:rPr lang="en-US" sz="1600" b="1" dirty="0">
                <a:solidFill>
                  <a:srgbClr val="81B29A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9.64%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Quattrocento Sans" panose="020B0502050000020003" pitchFamily="34" charset="-122"/>
                <a:cs typeface="Times New Roman" panose="02020603050405020304" charset="0"/>
              </a:rPr>
              <a:t> (RL recovers)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62000" y="74295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00B4D8">
              <a:alpha val="8235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79500" y="755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84118"/>
                </a:moveTo>
                <a:lnTo>
                  <a:pt x="152400" y="268248"/>
                </a:lnTo>
                <a:lnTo>
                  <a:pt x="152698" y="268129"/>
                </a:lnTo>
                <a:cubicBezTo>
                  <a:pt x="185202" y="254615"/>
                  <a:pt x="220087" y="247650"/>
                  <a:pt x="255270" y="247650"/>
                </a:cubicBezTo>
                <a:lnTo>
                  <a:pt x="266700" y="247650"/>
                </a:lnTo>
                <a:lnTo>
                  <a:pt x="266700" y="57150"/>
                </a:lnTo>
                <a:lnTo>
                  <a:pt x="255270" y="57150"/>
                </a:lnTo>
                <a:cubicBezTo>
                  <a:pt x="230148" y="57150"/>
                  <a:pt x="205204" y="62151"/>
                  <a:pt x="181987" y="71795"/>
                </a:cubicBezTo>
                <a:cubicBezTo>
                  <a:pt x="171986" y="75962"/>
                  <a:pt x="162104" y="80070"/>
                  <a:pt x="152400" y="84118"/>
                </a:cubicBezTo>
                <a:close/>
                <a:moveTo>
                  <a:pt x="137458" y="36612"/>
                </a:moveTo>
                <a:lnTo>
                  <a:pt x="152400" y="42863"/>
                </a:lnTo>
                <a:lnTo>
                  <a:pt x="167342" y="36612"/>
                </a:lnTo>
                <a:cubicBezTo>
                  <a:pt x="195203" y="25003"/>
                  <a:pt x="225088" y="19050"/>
                  <a:pt x="255270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2001" y="285750"/>
                  <a:pt x="276225" y="285750"/>
                </a:cubicBezTo>
                <a:lnTo>
                  <a:pt x="255270" y="285750"/>
                </a:lnTo>
                <a:cubicBezTo>
                  <a:pt x="225088" y="285750"/>
                  <a:pt x="195203" y="291703"/>
                  <a:pt x="167342" y="303312"/>
                </a:cubicBezTo>
                <a:lnTo>
                  <a:pt x="159722" y="306467"/>
                </a:lnTo>
                <a:cubicBezTo>
                  <a:pt x="155019" y="308431"/>
                  <a:pt x="149781" y="308431"/>
                  <a:pt x="145078" y="306467"/>
                </a:cubicBezTo>
                <a:lnTo>
                  <a:pt x="137458" y="303312"/>
                </a:lnTo>
                <a:cubicBezTo>
                  <a:pt x="109597" y="291703"/>
                  <a:pt x="79712" y="285750"/>
                  <a:pt x="49530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47625"/>
                </a:lnTo>
                <a:cubicBezTo>
                  <a:pt x="0" y="31849"/>
                  <a:pt x="12799" y="19050"/>
                  <a:pt x="28575" y="19050"/>
                </a:cubicBezTo>
                <a:lnTo>
                  <a:pt x="49530" y="19050"/>
                </a:lnTo>
                <a:cubicBezTo>
                  <a:pt x="79712" y="19050"/>
                  <a:pt x="109597" y="25003"/>
                  <a:pt x="137458" y="36612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25" name="Text 22"/>
          <p:cNvSpPr/>
          <p:nvPr/>
        </p:nvSpPr>
        <p:spPr>
          <a:xfrm>
            <a:off x="1524000" y="7429500"/>
            <a:ext cx="1371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Lesson learned:</a:t>
            </a:r>
            <a:r>
              <a:rPr lang="en-US" sz="18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KL constraint matters for OOD robustness. Don't discard it lightly.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7442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Key Takeaways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397000"/>
            <a:ext cx="1473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2500" y="1587500"/>
            <a:ext cx="508000" cy="50800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2" name="Text 10"/>
          <p:cNvSpPr/>
          <p:nvPr/>
        </p:nvSpPr>
        <p:spPr>
          <a:xfrm>
            <a:off x="952500" y="1587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15240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Tool-specific SFT is the foundation.</a:t>
            </a:r>
            <a:r>
              <a:rPr lang="en-US" sz="17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Without this warm-up, GRPO alone can't get off the ground on hard tasks. The quality of initialization determines the ceiling.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692400"/>
            <a:ext cx="1473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2500" y="2882900"/>
            <a:ext cx="508000" cy="50800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6" name="Text 14"/>
          <p:cNvSpPr/>
          <p:nvPr/>
        </p:nvSpPr>
        <p:spPr>
          <a:xfrm>
            <a:off x="952500" y="28829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1000" y="28194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GRPO works well for tool-use RL.</a:t>
            </a:r>
            <a:r>
              <a:rPr lang="en-US" sz="17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Group-based advantage is natural for binary-outcome math tasks; no need for a critic network.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987800"/>
            <a:ext cx="1473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2500" y="4178300"/>
            <a:ext cx="508000" cy="50800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0" name="Text 18"/>
          <p:cNvSpPr/>
          <p:nvPr/>
        </p:nvSpPr>
        <p:spPr>
          <a:xfrm>
            <a:off x="952500" y="41783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41148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Reward design is everything.</a:t>
            </a:r>
            <a:r>
              <a:rPr lang="en-US" sz="17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Tool-usage reward shaping is a small code change (5 lines) but produces qualitatively different model behavior.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83200"/>
            <a:ext cx="1473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2500" y="5473700"/>
            <a:ext cx="508000" cy="50800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952500" y="54737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54102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Asymmetric clipping makes sense.</a:t>
            </a:r>
            <a:r>
              <a:rPr lang="en-US" sz="17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When correct paths are rare, aggressive updates on success + conservative updates on failure is the right design.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578600"/>
            <a:ext cx="1473200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2500" y="6769100"/>
            <a:ext cx="508000" cy="508000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28" name="Text 26"/>
          <p:cNvSpPr/>
          <p:nvPr/>
        </p:nvSpPr>
        <p:spPr>
          <a:xfrm>
            <a:off x="952500" y="67691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6705600"/>
            <a:ext cx="1358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RL is not a silver bullet.</a:t>
            </a:r>
            <a:r>
              <a:rPr lang="en-US" sz="17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The AIME 2025 degradation shows that distribution shift and forgetting are real concerns. KL constraints shouldn't be discarded lightly.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7442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Future Work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397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7275" y="165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00B4D8"/>
          </a:solidFill>
        </p:spPr>
      </p:sp>
      <p:sp>
        <p:nvSpPr>
          <p:cNvPr id="12" name="Text 10"/>
          <p:cNvSpPr/>
          <p:nvPr/>
        </p:nvSpPr>
        <p:spPr>
          <a:xfrm>
            <a:off x="1587500" y="1625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More Tools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2133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SymPy for symbolic math, web search for factual problems, and more specialized computational tools.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1397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22225"/>
                </a:moveTo>
                <a:cubicBezTo>
                  <a:pt x="54382" y="22225"/>
                  <a:pt x="44450" y="32157"/>
                  <a:pt x="44450" y="44450"/>
                </a:cubicBezTo>
                <a:cubicBezTo>
                  <a:pt x="44450" y="56743"/>
                  <a:pt x="54382" y="66675"/>
                  <a:pt x="66675" y="66675"/>
                </a:cubicBezTo>
                <a:lnTo>
                  <a:pt x="79663" y="66675"/>
                </a:lnTo>
                <a:lnTo>
                  <a:pt x="6529" y="139879"/>
                </a:lnTo>
                <a:cubicBezTo>
                  <a:pt x="-2153" y="148560"/>
                  <a:pt x="-2153" y="162659"/>
                  <a:pt x="6529" y="171341"/>
                </a:cubicBezTo>
                <a:cubicBezTo>
                  <a:pt x="15210" y="180022"/>
                  <a:pt x="29309" y="180022"/>
                  <a:pt x="37991" y="171341"/>
                </a:cubicBezTo>
                <a:lnTo>
                  <a:pt x="111125" y="98137"/>
                </a:lnTo>
                <a:lnTo>
                  <a:pt x="111125" y="111125"/>
                </a:lnTo>
                <a:cubicBezTo>
                  <a:pt x="111125" y="123418"/>
                  <a:pt x="121057" y="133350"/>
                  <a:pt x="133350" y="133350"/>
                </a:cubicBezTo>
                <a:cubicBezTo>
                  <a:pt x="145643" y="133350"/>
                  <a:pt x="155575" y="123418"/>
                  <a:pt x="155575" y="111125"/>
                </a:cubicBezTo>
                <a:lnTo>
                  <a:pt x="155575" y="44450"/>
                </a:lnTo>
                <a:cubicBezTo>
                  <a:pt x="155575" y="32157"/>
                  <a:pt x="145643" y="22225"/>
                  <a:pt x="133350" y="22225"/>
                </a:cubicBezTo>
                <a:lnTo>
                  <a:pt x="66675" y="22225"/>
                </a:lnTo>
                <a:close/>
                <a:moveTo>
                  <a:pt x="280452" y="48687"/>
                </a:moveTo>
                <a:cubicBezTo>
                  <a:pt x="280452" y="58140"/>
                  <a:pt x="285495" y="66876"/>
                  <a:pt x="293683" y="71603"/>
                </a:cubicBezTo>
                <a:cubicBezTo>
                  <a:pt x="301870" y="76330"/>
                  <a:pt x="311957" y="76330"/>
                  <a:pt x="320144" y="71603"/>
                </a:cubicBezTo>
                <a:cubicBezTo>
                  <a:pt x="328331" y="66876"/>
                  <a:pt x="333375" y="58140"/>
                  <a:pt x="333375" y="48687"/>
                </a:cubicBezTo>
                <a:cubicBezTo>
                  <a:pt x="333375" y="39233"/>
                  <a:pt x="328331" y="30497"/>
                  <a:pt x="320144" y="25770"/>
                </a:cubicBezTo>
                <a:cubicBezTo>
                  <a:pt x="311957" y="21043"/>
                  <a:pt x="301870" y="21043"/>
                  <a:pt x="293683" y="25770"/>
                </a:cubicBezTo>
                <a:cubicBezTo>
                  <a:pt x="285495" y="30497"/>
                  <a:pt x="280452" y="39233"/>
                  <a:pt x="280452" y="48687"/>
                </a:cubicBezTo>
                <a:close/>
                <a:moveTo>
                  <a:pt x="194260" y="134878"/>
                </a:moveTo>
                <a:cubicBezTo>
                  <a:pt x="194260" y="144332"/>
                  <a:pt x="199304" y="153068"/>
                  <a:pt x="207491" y="157794"/>
                </a:cubicBezTo>
                <a:cubicBezTo>
                  <a:pt x="215678" y="162521"/>
                  <a:pt x="225766" y="162521"/>
                  <a:pt x="233953" y="157794"/>
                </a:cubicBezTo>
                <a:cubicBezTo>
                  <a:pt x="242140" y="153068"/>
                  <a:pt x="247184" y="144332"/>
                  <a:pt x="247184" y="134878"/>
                </a:cubicBezTo>
                <a:cubicBezTo>
                  <a:pt x="247184" y="125424"/>
                  <a:pt x="242140" y="116688"/>
                  <a:pt x="233953" y="111962"/>
                </a:cubicBezTo>
                <a:cubicBezTo>
                  <a:pt x="225766" y="107235"/>
                  <a:pt x="215678" y="107235"/>
                  <a:pt x="207491" y="111962"/>
                </a:cubicBezTo>
                <a:cubicBezTo>
                  <a:pt x="199304" y="116688"/>
                  <a:pt x="194260" y="125424"/>
                  <a:pt x="194260" y="134878"/>
                </a:cubicBezTo>
                <a:close/>
                <a:moveTo>
                  <a:pt x="306913" y="108416"/>
                </a:moveTo>
                <a:cubicBezTo>
                  <a:pt x="292309" y="108416"/>
                  <a:pt x="280452" y="120273"/>
                  <a:pt x="280452" y="134878"/>
                </a:cubicBezTo>
                <a:cubicBezTo>
                  <a:pt x="280452" y="149483"/>
                  <a:pt x="292309" y="161340"/>
                  <a:pt x="306913" y="161340"/>
                </a:cubicBezTo>
                <a:cubicBezTo>
                  <a:pt x="316367" y="161340"/>
                  <a:pt x="325103" y="156296"/>
                  <a:pt x="329830" y="148109"/>
                </a:cubicBezTo>
                <a:cubicBezTo>
                  <a:pt x="334557" y="139922"/>
                  <a:pt x="334557" y="129834"/>
                  <a:pt x="329830" y="121647"/>
                </a:cubicBezTo>
                <a:cubicBezTo>
                  <a:pt x="325103" y="113460"/>
                  <a:pt x="316367" y="108416"/>
                  <a:pt x="306913" y="108416"/>
                </a:cubicBezTo>
                <a:close/>
                <a:moveTo>
                  <a:pt x="108486" y="220722"/>
                </a:moveTo>
                <a:cubicBezTo>
                  <a:pt x="108486" y="230176"/>
                  <a:pt x="113529" y="238912"/>
                  <a:pt x="121717" y="243638"/>
                </a:cubicBezTo>
                <a:cubicBezTo>
                  <a:pt x="129904" y="248365"/>
                  <a:pt x="139991" y="248365"/>
                  <a:pt x="148178" y="243638"/>
                </a:cubicBezTo>
                <a:cubicBezTo>
                  <a:pt x="156366" y="238912"/>
                  <a:pt x="161409" y="230176"/>
                  <a:pt x="161409" y="220722"/>
                </a:cubicBezTo>
                <a:cubicBezTo>
                  <a:pt x="161409" y="211268"/>
                  <a:pt x="156366" y="202532"/>
                  <a:pt x="148178" y="197806"/>
                </a:cubicBezTo>
                <a:cubicBezTo>
                  <a:pt x="139991" y="193079"/>
                  <a:pt x="129904" y="193079"/>
                  <a:pt x="121717" y="197806"/>
                </a:cubicBezTo>
                <a:cubicBezTo>
                  <a:pt x="113529" y="202532"/>
                  <a:pt x="108486" y="211268"/>
                  <a:pt x="108486" y="220722"/>
                </a:cubicBezTo>
                <a:close/>
                <a:moveTo>
                  <a:pt x="220722" y="194260"/>
                </a:moveTo>
                <a:cubicBezTo>
                  <a:pt x="211268" y="194260"/>
                  <a:pt x="202532" y="199304"/>
                  <a:pt x="197806" y="207491"/>
                </a:cubicBezTo>
                <a:cubicBezTo>
                  <a:pt x="193079" y="215678"/>
                  <a:pt x="193079" y="225766"/>
                  <a:pt x="197806" y="233953"/>
                </a:cubicBezTo>
                <a:cubicBezTo>
                  <a:pt x="202532" y="242140"/>
                  <a:pt x="211268" y="247184"/>
                  <a:pt x="220722" y="247184"/>
                </a:cubicBezTo>
                <a:cubicBezTo>
                  <a:pt x="230176" y="247184"/>
                  <a:pt x="238912" y="242140"/>
                  <a:pt x="243638" y="233953"/>
                </a:cubicBezTo>
                <a:cubicBezTo>
                  <a:pt x="248365" y="225766"/>
                  <a:pt x="248365" y="215678"/>
                  <a:pt x="243638" y="207491"/>
                </a:cubicBezTo>
                <a:cubicBezTo>
                  <a:pt x="238912" y="199304"/>
                  <a:pt x="230176" y="194260"/>
                  <a:pt x="220722" y="194260"/>
                </a:cubicBezTo>
                <a:close/>
                <a:moveTo>
                  <a:pt x="280521" y="220722"/>
                </a:moveTo>
                <a:cubicBezTo>
                  <a:pt x="280521" y="230176"/>
                  <a:pt x="285565" y="238912"/>
                  <a:pt x="293752" y="243638"/>
                </a:cubicBezTo>
                <a:cubicBezTo>
                  <a:pt x="301939" y="248365"/>
                  <a:pt x="312026" y="248365"/>
                  <a:pt x="320214" y="243638"/>
                </a:cubicBezTo>
                <a:cubicBezTo>
                  <a:pt x="328401" y="238912"/>
                  <a:pt x="333444" y="230176"/>
                  <a:pt x="333444" y="220722"/>
                </a:cubicBezTo>
                <a:cubicBezTo>
                  <a:pt x="333444" y="206117"/>
                  <a:pt x="321587" y="194260"/>
                  <a:pt x="306983" y="194260"/>
                </a:cubicBezTo>
                <a:cubicBezTo>
                  <a:pt x="292378" y="194260"/>
                  <a:pt x="280521" y="206117"/>
                  <a:pt x="280521" y="220722"/>
                </a:cubicBezTo>
                <a:close/>
                <a:moveTo>
                  <a:pt x="48687" y="280452"/>
                </a:moveTo>
                <a:cubicBezTo>
                  <a:pt x="39233" y="280452"/>
                  <a:pt x="30497" y="285495"/>
                  <a:pt x="25770" y="293683"/>
                </a:cubicBezTo>
                <a:cubicBezTo>
                  <a:pt x="21043" y="301870"/>
                  <a:pt x="21043" y="311957"/>
                  <a:pt x="25770" y="320144"/>
                </a:cubicBezTo>
                <a:cubicBezTo>
                  <a:pt x="30497" y="328331"/>
                  <a:pt x="39233" y="333375"/>
                  <a:pt x="48687" y="333375"/>
                </a:cubicBezTo>
                <a:cubicBezTo>
                  <a:pt x="58140" y="333375"/>
                  <a:pt x="66876" y="328331"/>
                  <a:pt x="71603" y="320144"/>
                </a:cubicBezTo>
                <a:cubicBezTo>
                  <a:pt x="76330" y="311957"/>
                  <a:pt x="76330" y="301870"/>
                  <a:pt x="71603" y="293683"/>
                </a:cubicBezTo>
                <a:cubicBezTo>
                  <a:pt x="66876" y="285495"/>
                  <a:pt x="58140" y="280452"/>
                  <a:pt x="48687" y="280452"/>
                </a:cubicBezTo>
                <a:close/>
                <a:moveTo>
                  <a:pt x="108486" y="306913"/>
                </a:moveTo>
                <a:cubicBezTo>
                  <a:pt x="108486" y="316367"/>
                  <a:pt x="113529" y="325103"/>
                  <a:pt x="121717" y="329830"/>
                </a:cubicBezTo>
                <a:cubicBezTo>
                  <a:pt x="129904" y="334557"/>
                  <a:pt x="139991" y="334557"/>
                  <a:pt x="148178" y="329830"/>
                </a:cubicBezTo>
                <a:cubicBezTo>
                  <a:pt x="156366" y="325103"/>
                  <a:pt x="161409" y="316367"/>
                  <a:pt x="161409" y="306913"/>
                </a:cubicBezTo>
                <a:cubicBezTo>
                  <a:pt x="161409" y="297460"/>
                  <a:pt x="156366" y="288724"/>
                  <a:pt x="148178" y="283997"/>
                </a:cubicBezTo>
                <a:cubicBezTo>
                  <a:pt x="139991" y="279270"/>
                  <a:pt x="129904" y="279270"/>
                  <a:pt x="121717" y="283997"/>
                </a:cubicBezTo>
                <a:cubicBezTo>
                  <a:pt x="113529" y="288724"/>
                  <a:pt x="108486" y="297460"/>
                  <a:pt x="108486" y="306913"/>
                </a:cubicBezTo>
                <a:close/>
                <a:moveTo>
                  <a:pt x="220722" y="280452"/>
                </a:moveTo>
                <a:cubicBezTo>
                  <a:pt x="211268" y="280452"/>
                  <a:pt x="202532" y="285495"/>
                  <a:pt x="197806" y="293683"/>
                </a:cubicBezTo>
                <a:cubicBezTo>
                  <a:pt x="193079" y="301870"/>
                  <a:pt x="193079" y="311957"/>
                  <a:pt x="197806" y="320144"/>
                </a:cubicBezTo>
                <a:cubicBezTo>
                  <a:pt x="202532" y="328331"/>
                  <a:pt x="211268" y="333375"/>
                  <a:pt x="220722" y="333375"/>
                </a:cubicBezTo>
                <a:cubicBezTo>
                  <a:pt x="230176" y="333375"/>
                  <a:pt x="238912" y="328331"/>
                  <a:pt x="243638" y="320144"/>
                </a:cubicBezTo>
                <a:cubicBezTo>
                  <a:pt x="248365" y="311957"/>
                  <a:pt x="248365" y="301870"/>
                  <a:pt x="243638" y="293683"/>
                </a:cubicBezTo>
                <a:cubicBezTo>
                  <a:pt x="238912" y="285495"/>
                  <a:pt x="230176" y="280452"/>
                  <a:pt x="220722" y="280452"/>
                </a:cubicBezTo>
                <a:close/>
                <a:moveTo>
                  <a:pt x="280521" y="306913"/>
                </a:moveTo>
                <a:cubicBezTo>
                  <a:pt x="280521" y="316367"/>
                  <a:pt x="285565" y="325103"/>
                  <a:pt x="293752" y="329830"/>
                </a:cubicBezTo>
                <a:cubicBezTo>
                  <a:pt x="301939" y="334557"/>
                  <a:pt x="312026" y="334557"/>
                  <a:pt x="320214" y="329830"/>
                </a:cubicBezTo>
                <a:cubicBezTo>
                  <a:pt x="328401" y="325103"/>
                  <a:pt x="333444" y="316367"/>
                  <a:pt x="333444" y="306913"/>
                </a:cubicBezTo>
                <a:cubicBezTo>
                  <a:pt x="333444" y="292309"/>
                  <a:pt x="321587" y="280452"/>
                  <a:pt x="306983" y="280452"/>
                </a:cubicBezTo>
                <a:cubicBezTo>
                  <a:pt x="292378" y="280452"/>
                  <a:pt x="280521" y="292309"/>
                  <a:pt x="280521" y="306913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16" name="Text 14"/>
          <p:cNvSpPr/>
          <p:nvPr/>
        </p:nvSpPr>
        <p:spPr>
          <a:xfrm>
            <a:off x="9144000" y="1625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Larger Models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2133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Scale from 3B → 7B/14B parameters. Does the SFT+GRPO performance gap widen with model size?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683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95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20" name="Text 18"/>
          <p:cNvSpPr/>
          <p:nvPr/>
        </p:nvSpPr>
        <p:spPr>
          <a:xfrm>
            <a:off x="1587500" y="3911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Online RL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4419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Generate new problems on-the-fly instead of training on a fixed dataset. Explore curriculum learning strategies.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18500" y="3683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36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9144000" y="3911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Adaptive KL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4419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 with KL constraint, gradually relax as training stabilizes. Balance exploration and policy drift control.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969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01725" y="622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28" name="Text 26"/>
          <p:cNvSpPr/>
          <p:nvPr/>
        </p:nvSpPr>
        <p:spPr>
          <a:xfrm>
            <a:off x="1587500" y="6197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Multi-Modal Tools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9500" y="6705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Geometry diagram understanding, function plotting, and visual reasoning tools for broader problem classes.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8500" y="5969000"/>
            <a:ext cx="71755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13775" y="622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00B4D8"/>
          </a:solidFill>
        </p:spPr>
      </p:sp>
      <p:sp>
        <p:nvSpPr>
          <p:cNvPr id="32" name="Text 30"/>
          <p:cNvSpPr/>
          <p:nvPr/>
        </p:nvSpPr>
        <p:spPr>
          <a:xfrm>
            <a:off x="9144000" y="6197600"/>
            <a:ext cx="60325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Tool Composition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36000" y="6705600"/>
            <a:ext cx="6604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Teach the model to chain tools: search → code → verify. Build complex multi-tool reasoning pipelines.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A2332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995400" y="419100"/>
            <a:ext cx="1270000" cy="381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Team Contributions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1460500"/>
          <a:ext cx="14732000" cy="5334000"/>
        </p:xfrm>
        <a:graphic>
          <a:graphicData uri="http://schemas.openxmlformats.org/drawingml/2006/table">
            <a:tbl>
              <a:tblPr/>
              <a:tblGrid>
                <a:gridCol w="5156200"/>
                <a:gridCol w="9575800"/>
              </a:tblGrid>
              <a:tr h="75108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Member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Primary Role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91658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Yueyang Cheng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2025245047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Algorithm design, GRPO pipeline, reward shaping, RL experiments, result analysis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658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Wenzhe Dong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2025245048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SFT data preprocessing, sandbox server, SFT training runs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91658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Jian Lv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2025245046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Dataset curation, baseline experiments, evaluation framework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658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Xin Chen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2025245045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Literature survey, related work analysis, statistical analysis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91658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Haoyu Lu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5C6B7A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2025245042</a:t>
                      </a:r>
                      <a:endParaRPr lang="en-US" sz="1600" dirty="0">
                        <a:latin typeface="Times New Roman" panose="02020603050405020304" charset="0"/>
                        <a:ea typeface="QuattrocentoSans" pitchFamily="34" charset="0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Checkpoint conversion, experiment logging, visualization</a:t>
                      </a:r>
                      <a:endParaRPr lang="en-US" sz="1600" u="none" dirty="0">
                        <a:solidFill>
                          <a:srgbClr val="1A2332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7239000"/>
            <a:ext cx="147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5C6B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AI · May 10, 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000" y="87884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C6B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17/18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0"/>
          </a:xfrm>
          <a:prstGeom prst="straightConnector1">
            <a:avLst/>
          </a:prstGeom>
          <a:noFill/>
          <a:ln w="38100">
            <a:solidFill>
              <a:srgbClr val="00B4D8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2540000" y="2540000"/>
            <a:ext cx="1117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Times New Roman" panose="02020603050405020304" charset="0"/>
                <a:ea typeface="QuattrocentoSans" pitchFamily="34" charset="-122"/>
                <a:cs typeface="Times New Roman" panose="02020603050405020304" charset="0"/>
              </a:rPr>
              <a:t>Thank You!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0" y="3556000"/>
            <a:ext cx="863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B4D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4318000"/>
            <a:ext cx="3810000" cy="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810000" y="4635500"/>
            <a:ext cx="863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Best Results Summary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0" y="5143500"/>
          <a:ext cx="7112000" cy="2159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Benchmark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Best pass@16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GSM8K</a:t>
                      </a:r>
                      <a:endParaRPr lang="en-US" sz="1600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4D8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96.92%</a:t>
                      </a:r>
                      <a:endParaRPr lang="en-US" sz="1600" u="none" dirty="0">
                        <a:solidFill>
                          <a:srgbClr val="00B4D8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MATH-500</a:t>
                      </a:r>
                      <a:endParaRPr lang="en-US" sz="1600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4D8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73.17%</a:t>
                      </a:r>
                      <a:endParaRPr lang="en-US" sz="1600" u="none" dirty="0">
                        <a:solidFill>
                          <a:srgbClr val="00B4D8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AIME 2024</a:t>
                      </a:r>
                      <a:endParaRPr lang="en-US" sz="1600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4D8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20.28%</a:t>
                      </a:r>
                      <a:endParaRPr lang="en-US" sz="1600" u="none" dirty="0">
                        <a:solidFill>
                          <a:srgbClr val="00B4D8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AIME 2025</a:t>
                      </a:r>
                      <a:endParaRPr lang="en-US" sz="1600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4D8"/>
                          </a:solidFill>
                          <a:latin typeface="Times New Roman" panose="02020603050405020304" charset="0"/>
                          <a:ea typeface="QuattrocentoSans" pitchFamily="34" charset="-122"/>
                          <a:cs typeface="Times New Roman" panose="02020603050405020304" charset="0"/>
                        </a:rPr>
                        <a:t>9.64%</a:t>
                      </a:r>
                      <a:endParaRPr lang="en-US" sz="1600" u="none" dirty="0">
                        <a:solidFill>
                          <a:srgbClr val="00B4D8"/>
                        </a:solidFill>
                        <a:latin typeface="Times New Roman" panose="02020603050405020304" charset="0"/>
                        <a:ea typeface="QuattrocentoSans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10000" y="7620000"/>
            <a:ext cx="863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AI · May 10, 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40000" y="8064500"/>
            <a:ext cx="1117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Yueyang Cheng · Wenzhe Dong · Jian Lv · Xin Chen · Haoyu Lu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Text 8"/>
          <p:cNvSpPr/>
          <p:nvPr/>
        </p:nvSpPr>
        <p:spPr>
          <a:xfrm>
            <a:off x="15113000" y="8699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18/18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8940</Words>
  <Application>WPS 演示</Application>
  <PresentationFormat>On-screen Show (16:9)</PresentationFormat>
  <Paragraphs>654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QuattrocentoSans</vt:lpstr>
      <vt:lpstr>Quattrocento Sans</vt:lpstr>
      <vt:lpstr>Quattrocento Sans</vt:lpstr>
      <vt:lpstr>Quattrocento Sans</vt:lpstr>
      <vt:lpstr>QuattrocentoSans</vt:lpstr>
      <vt:lpstr>Segoe Print</vt:lpstr>
      <vt:lpstr>QuattrocentoSans</vt:lpstr>
      <vt:lpstr>Cambria Math</vt:lpstr>
      <vt:lpstr>Arial</vt:lpstr>
      <vt:lpstr>Calibri</vt:lpstr>
      <vt:lpstr>微软雅黑</vt:lpstr>
      <vt:lpstr>Arial Unicode MS</vt:lpstr>
      <vt:lpstr>等线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Tool-Augmented Reasoning with Group Relative Policy Optimization</dc:title>
  <dc:creator>Kimi</dc:creator>
  <dc:subject>Tool-Augmented Reasoning with Group Relative Policy Optimization</dc:subject>
  <cp:lastModifiedBy>979</cp:lastModifiedBy>
  <cp:revision>7</cp:revision>
  <dcterms:created xsi:type="dcterms:W3CDTF">2026-05-08T13:32:00Z</dcterms:created>
  <dcterms:modified xsi:type="dcterms:W3CDTF">2026-05-09T13:06:57Z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{"Label":"Tool-Augmented Reasoning with Group Relative Policy Optimization","ContentProducer":"001191110108MACG2KBH8F10000","ProduceID":"19e07c97-a882-8ad2-8000-0000b3ad6028","ReservedCode1":"","ContentPropagator":"001191110108MACG2KBH8F20000","PropagateID":"19e07c97-a882-8ad2-8000-0000b3ad6028","ReservedCode2":""}</vt:lpwstr>
  </property>
  <property fmtid="{D5CDD505-2E9C-101B-9397-08002B2CF9AE}" pid="3" name="ICV">
    <vt:lpwstr>6474E571DEAF46C5BDF5A4BE49E04C5E_12</vt:lpwstr>
  </property>
  <property fmtid="{D5CDD505-2E9C-101B-9397-08002B2CF9AE}" pid="4" name="KSOProductBuildVer">
    <vt:lpwstr>2052-12.1.0.20305</vt:lpwstr>
  </property>
</Properties>
</file>